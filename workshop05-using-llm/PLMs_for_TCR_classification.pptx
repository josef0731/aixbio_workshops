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the notes' 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6030DE-5925-4D11-A215-89CA514630A1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03FB33D-E125-4F6E-A610-924D8D6266A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6BD5E7F-4AE4-4581-9843-6E8DB5EC1BB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7E555A-A483-4020-83D4-0E672AD2F20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1898D4-0D68-43D3-9255-60A10671DCD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ED8C30-E271-4851-8105-553C652F7E7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A0E7C9A-82A2-46D8-8741-415997D405F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25E427-FF59-4FEF-B057-83CCA8516E4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ECD9A62-890D-4B2B-AFDE-219EB3701BF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8859F7C-26DC-4FA1-AAE8-9D1FBC8EEBE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88EF97B-BF0B-4548-82F1-5D8184A1EDE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GB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411480" y="1280160"/>
            <a:ext cx="8320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TCR Language Model Workshop</a:t>
            </a:r>
            <a:endParaRPr b="0" lang="en-GB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11480" y="205740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2c39a"/>
                </a:solidFill>
                <a:latin typeface="Calibri"/>
                <a:ea typeface="Calibri"/>
              </a:rPr>
              <a:t>CD4/CD8 T Cell Classification</a:t>
            </a:r>
            <a:endParaRPr b="0" lang="en-GB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11480" y="2834640"/>
            <a:ext cx="832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a92a9"/>
                </a:solidFill>
                <a:latin typeface="Calibri"/>
                <a:ea typeface="Calibri"/>
              </a:rPr>
              <a:t>Hands-on comparison of representation-based approaches to a non-neural baseline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5"/>
          <p:cNvSpPr/>
          <p:nvPr/>
        </p:nvSpPr>
        <p:spPr>
          <a:xfrm>
            <a:off x="274320" y="4818960"/>
            <a:ext cx="82292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libri"/>
                <a:ea typeface="Calibri"/>
              </a:rPr>
              <a:t>Hands-on session</a:t>
            </a:r>
            <a:endParaRPr b="0" lang="en-GB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What we're doing today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365760" y="1005840"/>
            <a:ext cx="265140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365760" y="1005840"/>
            <a:ext cx="265140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3"/>
          <p:cNvSpPr/>
          <p:nvPr/>
        </p:nvSpPr>
        <p:spPr>
          <a:xfrm>
            <a:off x="1234440" y="12344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28090"/>
                </a:solidFill>
                <a:latin typeface="Calibri"/>
                <a:ea typeface="Calibri"/>
              </a:rPr>
              <a:t>?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57200" y="19202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libri"/>
                <a:ea typeface="Calibri"/>
              </a:rPr>
              <a:t>The question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502920" y="24231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Can we predict whether a T cell is CD4⁺ or CD8⁺ from its TCR sequence alone?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3383280" y="1005840"/>
            <a:ext cx="265140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3383280" y="1005840"/>
            <a:ext cx="265140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Text 8"/>
          <p:cNvSpPr/>
          <p:nvPr/>
        </p:nvSpPr>
        <p:spPr>
          <a:xfrm>
            <a:off x="4251960" y="12344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28090"/>
                </a:solidFill>
                <a:latin typeface="Calibri"/>
                <a:ea typeface="Calibri"/>
              </a:rPr>
              <a:t>⬡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3474720" y="19202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libri"/>
                <a:ea typeface="Calibri"/>
              </a:rPr>
              <a:t>The data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3520440" y="24231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1 000 CD4 + 1 000 CD8 paired α-β TCRs from a single PBMC donor (10x Genomics)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6400800" y="1005840"/>
            <a:ext cx="265140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6400800" y="1005840"/>
            <a:ext cx="2651400" cy="5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7269480" y="12344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28090"/>
                </a:solidFill>
                <a:latin typeface="Calibri"/>
                <a:ea typeface="Calibri"/>
              </a:rPr>
              <a:t>✓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6492240" y="19202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libri"/>
                <a:ea typeface="Calibri"/>
              </a:rPr>
              <a:t>The task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6537960" y="242316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Train classifiers and compare three ways of featurising TCR sequences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Three representations, five classifiers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365760" y="1051560"/>
            <a:ext cx="841212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365760" y="1051560"/>
            <a:ext cx="91080" cy="10969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94360" y="11430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744"/>
                </a:solidFill>
                <a:latin typeface="Calibri"/>
                <a:ea typeface="Calibri"/>
              </a:rPr>
              <a:t>V-gene usage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15544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a92a9"/>
                </a:solidFill>
                <a:latin typeface="Calibri"/>
                <a:ea typeface="Calibri"/>
              </a:rPr>
              <a:t>Simple baseline — no biological pre-training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3017520" y="116136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Logistic regression on categorically encoded TRAV and TRBV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365760" y="2286000"/>
            <a:ext cx="841212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365760" y="2286000"/>
            <a:ext cx="91080" cy="10969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8"/>
          <p:cNvSpPr/>
          <p:nvPr/>
        </p:nvSpPr>
        <p:spPr>
          <a:xfrm>
            <a:off x="594360" y="23774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744"/>
                </a:solidFill>
                <a:latin typeface="Calibri"/>
                <a:ea typeface="Calibri"/>
              </a:rPr>
              <a:t>SCEPTR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94360" y="27889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a92a9"/>
                </a:solidFill>
                <a:latin typeface="Calibri"/>
                <a:ea typeface="Calibri"/>
              </a:rPr>
              <a:t>Domain-specific representation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3017520" y="239580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TCR-specific language model. Embeds paired α-β TCRs into a dense vector, trained on large TCR repertoire data.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365760" y="3520440"/>
            <a:ext cx="841212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365760" y="3520440"/>
            <a:ext cx="91080" cy="1096920"/>
          </a:xfrm>
          <a:prstGeom prst="rect">
            <a:avLst/>
          </a:prstGeom>
          <a:solidFill>
            <a:srgbClr val="5b7f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594360" y="36118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744"/>
                </a:solidFill>
                <a:latin typeface="Calibri"/>
                <a:ea typeface="Calibri"/>
              </a:rPr>
              <a:t>ESM-2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594360" y="402336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a92a9"/>
                </a:solidFill>
                <a:latin typeface="Calibri"/>
                <a:ea typeface="Calibri"/>
              </a:rPr>
              <a:t>General protein LM — no TCR-specific knowledge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3017520" y="363024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General protein language model (8 M params). CDR3α and CDR3β are embedded separately; the two vectors are concatenated.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a92a9"/>
                </a:solidFill>
                <a:latin typeface="Calibri"/>
                <a:ea typeface="Calibri"/>
              </a:rPr>
              <a:t>Each representation is tested with both logistic regression and a single hidden-layer neural network (hidden layer dimensions = 64).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Step 1 — The data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457200" y="914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Each row is one paired α-β TCR with its CD4/CD8 label: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" name="Table 0"/>
          <p:cNvGraphicFramePr/>
          <p:nvPr/>
        </p:nvGraphicFramePr>
        <p:xfrm>
          <a:off x="457200" y="1531800"/>
          <a:ext cx="7497720" cy="124776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554480"/>
                <a:gridCol w="1828800"/>
                <a:gridCol w="82296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TRAV</a:t>
                      </a:r>
                      <a:endParaRPr b="0" lang="en-GB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CDR3α</a:t>
                      </a:r>
                      <a:endParaRPr b="0" lang="en-GB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TRBV</a:t>
                      </a:r>
                      <a:endParaRPr b="0" lang="en-GB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CDR3β</a:t>
                      </a:r>
                      <a:endParaRPr b="0" lang="en-GB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Label</a:t>
                      </a:r>
                      <a:endParaRPr b="0" lang="en-GB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TRAV12-2*01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CAVRYNQGGKLIF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TRBV20-1*01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CSARDLGQGANVLTF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e07b54"/>
                          </a:solidFill>
                          <a:latin typeface="Calibri"/>
                          <a:ea typeface="Calibri"/>
                        </a:rPr>
                        <a:t>CD4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TRAV13-1*01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CAENRDDKIIF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TRBV7-2*01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CASSLGQGAYEQYF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ba3c3"/>
                          </a:solidFill>
                          <a:latin typeface="Calibri"/>
                          <a:ea typeface="Calibri"/>
                        </a:rPr>
                        <a:t>CD8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TRAV6*01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CALVGDSSKIIF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TRBV5-1*01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CASSQAGLAGELF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4ba3c3"/>
                          </a:solidFill>
                          <a:latin typeface="Calibri"/>
                          <a:ea typeface="Calibri"/>
                        </a:rPr>
                        <a:t>CD8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…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…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…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…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7a92a9"/>
                          </a:solidFill>
                          <a:latin typeface="Calibri"/>
                          <a:ea typeface="Calibri"/>
                        </a:rPr>
                        <a:t>…</a:t>
                      </a:r>
                      <a:endParaRPr b="0" lang="en-GB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0" name="Shape 2"/>
          <p:cNvSpPr/>
          <p:nvPr/>
        </p:nvSpPr>
        <p:spPr>
          <a:xfrm>
            <a:off x="544320" y="3292560"/>
            <a:ext cx="1645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 3"/>
          <p:cNvSpPr/>
          <p:nvPr/>
        </p:nvSpPr>
        <p:spPr>
          <a:xfrm>
            <a:off x="544320" y="33840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8090"/>
                </a:solidFill>
                <a:latin typeface="Calibri"/>
                <a:ea typeface="Calibri"/>
              </a:rPr>
              <a:t>2 000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44320" y="39783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92a9"/>
                </a:solidFill>
                <a:latin typeface="Calibri"/>
                <a:ea typeface="Calibri"/>
              </a:rPr>
              <a:t>total TCRs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2556000" y="3292560"/>
            <a:ext cx="1645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xt 6"/>
          <p:cNvSpPr/>
          <p:nvPr/>
        </p:nvSpPr>
        <p:spPr>
          <a:xfrm>
            <a:off x="2556000" y="33840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8090"/>
                </a:solidFill>
                <a:latin typeface="Calibri"/>
                <a:ea typeface="Calibri"/>
              </a:rPr>
              <a:t>1 000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2556000" y="39783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92a9"/>
                </a:solidFill>
                <a:latin typeface="Calibri"/>
                <a:ea typeface="Calibri"/>
              </a:rPr>
              <a:t>CD4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4567680" y="3292560"/>
            <a:ext cx="1645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Text 9"/>
          <p:cNvSpPr/>
          <p:nvPr/>
        </p:nvSpPr>
        <p:spPr>
          <a:xfrm>
            <a:off x="4567680" y="33840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8090"/>
                </a:solidFill>
                <a:latin typeface="Calibri"/>
                <a:ea typeface="Calibri"/>
              </a:rPr>
              <a:t>1 000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567680" y="39783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92a9"/>
                </a:solidFill>
                <a:latin typeface="Calibri"/>
                <a:ea typeface="Calibri"/>
              </a:rPr>
              <a:t>CD8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6579360" y="3292560"/>
            <a:ext cx="1645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579360" y="33840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28090"/>
                </a:solidFill>
                <a:latin typeface="Calibri"/>
                <a:ea typeface="Calibri"/>
              </a:rPr>
              <a:t>75/25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579360" y="39783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92a9"/>
                </a:solidFill>
                <a:latin typeface="Calibri"/>
                <a:ea typeface="Calibri"/>
              </a:rPr>
              <a:t>train/test split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Steps 2 &amp; 3 — Computing embeddings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365760" y="914400"/>
            <a:ext cx="4023000" cy="3748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365760" y="914400"/>
            <a:ext cx="4023000" cy="63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3"/>
          <p:cNvSpPr/>
          <p:nvPr/>
        </p:nvSpPr>
        <p:spPr>
          <a:xfrm>
            <a:off x="457200" y="10242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28090"/>
                </a:solidFill>
                <a:latin typeface="Calibri"/>
                <a:ea typeface="Calibri"/>
              </a:rPr>
              <a:t>SCEPTR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48640" y="155448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744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Input: paired TRAV + CDR3α + TRBV + CDR3β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2809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Output: single dense vector per TCR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2809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28090"/>
                </a:solidFill>
                <a:latin typeface="Calibri"/>
                <a:ea typeface="Calibri"/>
              </a:rPr>
              <a:t>Shape: (2000, D)  — one row per cell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Embeddings are cached to disk on first run.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Subsequent runs load instantly from the .csv cache.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4754880" y="914400"/>
            <a:ext cx="4023000" cy="3748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754880" y="914400"/>
            <a:ext cx="4023000" cy="63720"/>
          </a:xfrm>
          <a:prstGeom prst="rect">
            <a:avLst/>
          </a:prstGeom>
          <a:solidFill>
            <a:srgbClr val="5b7f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7"/>
          <p:cNvSpPr/>
          <p:nvPr/>
        </p:nvSpPr>
        <p:spPr>
          <a:xfrm>
            <a:off x="4846320" y="10242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5b7fa6"/>
                </a:solidFill>
                <a:latin typeface="Calibri"/>
                <a:ea typeface="Calibri"/>
              </a:rPr>
              <a:t>ESM-2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4937760" y="1508760"/>
            <a:ext cx="36572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Input: CDR3α and CDR3β as separate AA strings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Model: facebook/esm2_t6_8M_UR50D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Pooling: mean over residue embeddings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(excluding CLS/EOS special tokens)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Concatenate α and β vectors → one row per cell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Shape: (2000, 2×D)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744"/>
                </a:solidFill>
                <a:latin typeface="Calibri"/>
                <a:ea typeface="Calibri"/>
              </a:rPr>
              <a:t>Cached as .npy after first run.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45720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Step 4 — Classification results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57200" y="868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Typical results on a balanced CD4/CD8 test set (your numbers may vary slightly):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3" name="Table 0"/>
          <p:cNvGraphicFramePr/>
          <p:nvPr/>
        </p:nvGraphicFramePr>
        <p:xfrm>
          <a:off x="457200" y="1280160"/>
          <a:ext cx="8229240" cy="1942920"/>
        </p:xfrm>
        <a:graphic>
          <a:graphicData uri="http://schemas.openxmlformats.org/drawingml/2006/table">
            <a:tbl>
              <a:tblPr/>
              <a:tblGrid>
                <a:gridCol w="5029200"/>
                <a:gridCol w="1600200"/>
                <a:gridCol w="1600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Representation + classifier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Accuracy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ROC AUC</a:t>
                      </a:r>
                      <a:endParaRPr b="0" lang="en-GB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V genes + logistic regression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e07b54"/>
                          </a:solidFill>
                          <a:latin typeface="Calibri"/>
                          <a:ea typeface="Calibri"/>
                        </a:rPr>
                        <a:t>0.576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e07b54"/>
                          </a:solidFill>
                          <a:latin typeface="Calibri"/>
                          <a:ea typeface="Calibri"/>
                        </a:rPr>
                        <a:t>0.610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SCEPTR + logistic regression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5b7fa6"/>
                          </a:solidFill>
                          <a:latin typeface="Calibri"/>
                          <a:ea typeface="Calibri"/>
                        </a:rPr>
                        <a:t>0.578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5b7fa6"/>
                          </a:solidFill>
                          <a:latin typeface="Calibri"/>
                          <a:ea typeface="Calibri"/>
                        </a:rPr>
                        <a:t> </a:t>
                      </a:r>
                      <a:r>
                        <a:rPr b="1" lang="en-US" sz="1200" spc="-1" strike="noStrike">
                          <a:solidFill>
                            <a:srgbClr val="5b7fa6"/>
                          </a:solidFill>
                          <a:latin typeface="Calibri"/>
                          <a:ea typeface="Calibri"/>
                        </a:rPr>
                        <a:t>0.593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SCEPTR + neural network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0.574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0.593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ESM-2 CDR3 + logistic regression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5b7fa6"/>
                          </a:solidFill>
                          <a:latin typeface="Calibri"/>
                          <a:ea typeface="Calibri"/>
                        </a:rPr>
                        <a:t>0.564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5b7fa6"/>
                          </a:solidFill>
                          <a:latin typeface="Calibri"/>
                          <a:ea typeface="Calibri"/>
                        </a:rPr>
                        <a:t>0.591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744"/>
                          </a:solidFill>
                          <a:latin typeface="Calibri"/>
                          <a:ea typeface="Calibri"/>
                        </a:rPr>
                        <a:t>ESM-2 CDR3 + neural network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0.554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0.578</a:t>
                      </a:r>
                      <a:endParaRPr b="0" lang="en-GB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4" name="Text 2"/>
          <p:cNvSpPr/>
          <p:nvPr/>
        </p:nvSpPr>
        <p:spPr>
          <a:xfrm>
            <a:off x="457200" y="43434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7a92a9"/>
                </a:solidFill>
                <a:latin typeface="Calibri"/>
                <a:ea typeface="Calibri"/>
              </a:rPr>
              <a:t>The baseline wins! V gene identity carries strong CD4/CD8 signal — a protein LM is not automatically better for every supervised task.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Step 5 — ROC &amp; precision-recall curves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457200" y="868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ROC curves show classifier performance across all decision thresholds. An AUC of 1 is perfect; 0.5 is random.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120640" y="1417320"/>
            <a:ext cx="109440" cy="868320"/>
          </a:xfrm>
          <a:prstGeom prst="rect">
            <a:avLst/>
          </a:prstGeom>
          <a:solidFill>
            <a:srgbClr val="e07b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349240" y="14540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7b54"/>
                </a:solidFill>
                <a:latin typeface="Calibri"/>
                <a:ea typeface="Calibri"/>
              </a:rPr>
              <a:t>V-gene usage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349240" y="181980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744"/>
                </a:solidFill>
                <a:latin typeface="Calibri"/>
                <a:ea typeface="Calibri"/>
              </a:rPr>
              <a:t>Best AUC (~0.61) — V genes carry lineage signal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5120640" y="2514600"/>
            <a:ext cx="109440" cy="868320"/>
          </a:xfrm>
          <a:prstGeom prst="rect">
            <a:avLst/>
          </a:prstGeom>
          <a:solidFill>
            <a:srgbClr val="5b7f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 6"/>
          <p:cNvSpPr/>
          <p:nvPr/>
        </p:nvSpPr>
        <p:spPr>
          <a:xfrm>
            <a:off x="5349240" y="25513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b7fa6"/>
                </a:solidFill>
                <a:latin typeface="Calibri"/>
                <a:ea typeface="Calibri"/>
              </a:rPr>
              <a:t>ESM-2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5349240" y="291708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744"/>
                </a:solidFill>
                <a:latin typeface="Calibri"/>
                <a:ea typeface="Calibri"/>
              </a:rPr>
              <a:t>Lowest AUC – insufficient data for training in the high-dimensional representation space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5120640" y="3611880"/>
            <a:ext cx="109440" cy="868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 9"/>
          <p:cNvSpPr/>
          <p:nvPr/>
        </p:nvSpPr>
        <p:spPr>
          <a:xfrm>
            <a:off x="5349240" y="36486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28090"/>
                </a:solidFill>
                <a:latin typeface="Calibri"/>
                <a:ea typeface="Calibri"/>
              </a:rPr>
              <a:t>SCEPTR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5349240" y="401436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744"/>
                </a:solidFill>
                <a:latin typeface="Calibri"/>
                <a:ea typeface="Calibri"/>
              </a:rPr>
              <a:t>Marginally better, but still worse than baseline: TCR-specific pretraining doesn't automatically win at classification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20000" y="1332000"/>
            <a:ext cx="3509640" cy="356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Step 8 — UMAP embedding spaces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57200" y="868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UMAP compresses high-dimensional embeddings to 2D for visual inspection. Better separation → better classifier.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365760" y="1371600"/>
            <a:ext cx="402300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1463040" y="246888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1645920" y="274320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1280160" y="301752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1828800" y="256032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1554480" y="320040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1188720" y="265176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1737360" y="292608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1371600" y="237744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1920240" y="301752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1554480" y="265176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2926080" y="356616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3108960" y="384048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3291840" y="34747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2834640" y="39319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Shape 17"/>
          <p:cNvSpPr/>
          <p:nvPr/>
        </p:nvSpPr>
        <p:spPr>
          <a:xfrm>
            <a:off x="3200400" y="365760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3017520" y="411480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3383280" y="374904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2743200" y="34747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3108960" y="39319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Shape 22"/>
          <p:cNvSpPr/>
          <p:nvPr/>
        </p:nvSpPr>
        <p:spPr>
          <a:xfrm>
            <a:off x="3291840" y="356616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457200" y="42519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SCEPTR embedding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5"/>
          <p:cNvSpPr/>
          <p:nvPr/>
        </p:nvSpPr>
        <p:spPr>
          <a:xfrm>
            <a:off x="4754880" y="1371600"/>
            <a:ext cx="4023000" cy="310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rotWithShape="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Shape 26"/>
          <p:cNvSpPr/>
          <p:nvPr/>
        </p:nvSpPr>
        <p:spPr>
          <a:xfrm>
            <a:off x="6217920" y="246888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Shape 27"/>
          <p:cNvSpPr/>
          <p:nvPr/>
        </p:nvSpPr>
        <p:spPr>
          <a:xfrm>
            <a:off x="6400800" y="274320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Shape 28"/>
          <p:cNvSpPr/>
          <p:nvPr/>
        </p:nvSpPr>
        <p:spPr>
          <a:xfrm>
            <a:off x="6035040" y="301752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Shape 29"/>
          <p:cNvSpPr/>
          <p:nvPr/>
        </p:nvSpPr>
        <p:spPr>
          <a:xfrm>
            <a:off x="6583680" y="256032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Shape 30"/>
          <p:cNvSpPr/>
          <p:nvPr/>
        </p:nvSpPr>
        <p:spPr>
          <a:xfrm>
            <a:off x="6309360" y="320040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Shape 31"/>
          <p:cNvSpPr/>
          <p:nvPr/>
        </p:nvSpPr>
        <p:spPr>
          <a:xfrm>
            <a:off x="5943600" y="265176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Shape 32"/>
          <p:cNvSpPr/>
          <p:nvPr/>
        </p:nvSpPr>
        <p:spPr>
          <a:xfrm>
            <a:off x="6492240" y="292608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Shape 33"/>
          <p:cNvSpPr/>
          <p:nvPr/>
        </p:nvSpPr>
        <p:spPr>
          <a:xfrm>
            <a:off x="6126480" y="237744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Shape 34"/>
          <p:cNvSpPr/>
          <p:nvPr/>
        </p:nvSpPr>
        <p:spPr>
          <a:xfrm>
            <a:off x="6675120" y="301752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Shape 35"/>
          <p:cNvSpPr/>
          <p:nvPr/>
        </p:nvSpPr>
        <p:spPr>
          <a:xfrm>
            <a:off x="6309360" y="2651760"/>
            <a:ext cx="109440" cy="109440"/>
          </a:xfrm>
          <a:prstGeom prst="ellipse">
            <a:avLst/>
          </a:prstGeom>
          <a:solidFill>
            <a:srgbClr val="e07b54">
              <a:alpha val="70000"/>
            </a:srgbClr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Shape 36"/>
          <p:cNvSpPr/>
          <p:nvPr/>
        </p:nvSpPr>
        <p:spPr>
          <a:xfrm>
            <a:off x="7040880" y="356616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Shape 37"/>
          <p:cNvSpPr/>
          <p:nvPr/>
        </p:nvSpPr>
        <p:spPr>
          <a:xfrm>
            <a:off x="7223760" y="384048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Shape 38"/>
          <p:cNvSpPr/>
          <p:nvPr/>
        </p:nvSpPr>
        <p:spPr>
          <a:xfrm>
            <a:off x="7406640" y="34747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Shape 39"/>
          <p:cNvSpPr/>
          <p:nvPr/>
        </p:nvSpPr>
        <p:spPr>
          <a:xfrm>
            <a:off x="6949440" y="39319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Shape 40"/>
          <p:cNvSpPr/>
          <p:nvPr/>
        </p:nvSpPr>
        <p:spPr>
          <a:xfrm>
            <a:off x="7315200" y="365760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41"/>
          <p:cNvSpPr/>
          <p:nvPr/>
        </p:nvSpPr>
        <p:spPr>
          <a:xfrm>
            <a:off x="7132320" y="411480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Shape 42"/>
          <p:cNvSpPr/>
          <p:nvPr/>
        </p:nvSpPr>
        <p:spPr>
          <a:xfrm>
            <a:off x="7498080" y="374904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Shape 43"/>
          <p:cNvSpPr/>
          <p:nvPr/>
        </p:nvSpPr>
        <p:spPr>
          <a:xfrm>
            <a:off x="6858000" y="34747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Shape 44"/>
          <p:cNvSpPr/>
          <p:nvPr/>
        </p:nvSpPr>
        <p:spPr>
          <a:xfrm>
            <a:off x="7223760" y="393192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Shape 45"/>
          <p:cNvSpPr/>
          <p:nvPr/>
        </p:nvSpPr>
        <p:spPr>
          <a:xfrm>
            <a:off x="7406640" y="3566160"/>
            <a:ext cx="109440" cy="109440"/>
          </a:xfrm>
          <a:prstGeom prst="ellipse">
            <a:avLst/>
          </a:prstGeom>
          <a:solidFill>
            <a:srgbClr val="4ba3c3">
              <a:alpha val="70000"/>
            </a:srgbClr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 46"/>
          <p:cNvSpPr/>
          <p:nvPr/>
        </p:nvSpPr>
        <p:spPr>
          <a:xfrm>
            <a:off x="4846320" y="42519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ESM-2 CDR3 embedding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48"/>
          <p:cNvSpPr/>
          <p:nvPr/>
        </p:nvSpPr>
        <p:spPr>
          <a:xfrm>
            <a:off x="3383280" y="4617720"/>
            <a:ext cx="164160" cy="164160"/>
          </a:xfrm>
          <a:prstGeom prst="ellipse">
            <a:avLst/>
          </a:prstGeom>
          <a:solidFill>
            <a:srgbClr val="e07b54"/>
          </a:solidFill>
          <a:ln w="12700">
            <a:solidFill>
              <a:srgbClr val="e07b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Text 49"/>
          <p:cNvSpPr/>
          <p:nvPr/>
        </p:nvSpPr>
        <p:spPr>
          <a:xfrm>
            <a:off x="3611880" y="4608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07b54"/>
                </a:solidFill>
                <a:latin typeface="Calibri"/>
                <a:ea typeface="Calibri"/>
              </a:rPr>
              <a:t>CD4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50"/>
          <p:cNvSpPr/>
          <p:nvPr/>
        </p:nvSpPr>
        <p:spPr>
          <a:xfrm>
            <a:off x="4251960" y="4617720"/>
            <a:ext cx="164160" cy="164160"/>
          </a:xfrm>
          <a:prstGeom prst="ellipse">
            <a:avLst/>
          </a:prstGeom>
          <a:solidFill>
            <a:srgbClr val="4ba3c3"/>
          </a:solidFill>
          <a:ln w="12700">
            <a:solidFill>
              <a:srgbClr val="4ba3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51"/>
          <p:cNvSpPr/>
          <p:nvPr/>
        </p:nvSpPr>
        <p:spPr>
          <a:xfrm>
            <a:off x="4480560" y="460872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ba3c3"/>
                </a:solidFill>
                <a:latin typeface="Calibri"/>
                <a:ea typeface="Calibri"/>
              </a:rPr>
              <a:t>CD8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Picture 54" descr=""/>
          <p:cNvPicPr/>
          <p:nvPr/>
        </p:nvPicPr>
        <p:blipFill>
          <a:blip r:embed="rId1"/>
          <a:srcRect l="0" t="5965" r="0" b="0"/>
          <a:stretch/>
        </p:blipFill>
        <p:spPr>
          <a:xfrm>
            <a:off x="489600" y="1467720"/>
            <a:ext cx="3513600" cy="284184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56" descr=""/>
          <p:cNvPicPr/>
          <p:nvPr/>
        </p:nvPicPr>
        <p:blipFill>
          <a:blip r:embed="rId2"/>
          <a:srcRect l="0" t="4550" r="0" b="0"/>
          <a:stretch/>
        </p:blipFill>
        <p:spPr>
          <a:xfrm>
            <a:off x="4937760" y="1463040"/>
            <a:ext cx="3512520" cy="287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411480" y="3200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Key takeaways</a:t>
            </a:r>
            <a:endParaRPr b="0" lang="en-GB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365760" y="100584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Calibri"/>
              </a:rPr>
              <a:t>①</a:t>
            </a:r>
            <a:endParaRPr b="0" lang="en-GB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868680" y="10332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 language model embedding is not a free lunch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868680" y="13716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92a9"/>
                </a:solidFill>
                <a:latin typeface="Calibri"/>
                <a:ea typeface="Calibri"/>
              </a:rPr>
              <a:t>Logistic regression on V genes outperformed both SCEPTR and ESM-2 at the tested dataset scale. Pre-training on sequences doesn't automatically translate to better supervised classification.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365760" y="196596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Calibri"/>
              </a:rPr>
              <a:t>②</a:t>
            </a:r>
            <a:endParaRPr b="0" lang="en-GB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868680" y="199332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Why does the baseline work so well?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868680" y="233172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92a9"/>
                </a:solidFill>
                <a:latin typeface="Calibri"/>
                <a:ea typeface="Calibri"/>
              </a:rPr>
              <a:t>Biology: V genes encode CDR1/CDR2 which make direct contact with MHC</a:t>
            </a:r>
            <a:br>
              <a:rPr sz="1200"/>
            </a:br>
            <a:r>
              <a:rPr b="0" lang="en-US" sz="1200" spc="-1" strike="noStrike">
                <a:solidFill>
                  <a:srgbClr val="7a92a9"/>
                </a:solidFill>
                <a:latin typeface="Calibri"/>
                <a:ea typeface="Calibri"/>
              </a:rPr>
              <a:t>Computer Science: Data too small to learn more complex patterns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365760" y="292608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Calibri"/>
              </a:rPr>
              <a:t>③</a:t>
            </a:r>
            <a:endParaRPr b="0" lang="en-GB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868680" y="295344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Small data is a real constraint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868680" y="329184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92a9"/>
                </a:solidFill>
                <a:latin typeface="Calibri"/>
                <a:ea typeface="Calibri"/>
              </a:rPr>
              <a:t>With only 1 500 training TCRs, simpler models may generalise better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365760" y="388620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2c39a"/>
                </a:solidFill>
                <a:latin typeface="Calibri"/>
                <a:ea typeface="Calibri"/>
              </a:rPr>
              <a:t>④</a:t>
            </a:r>
            <a:endParaRPr b="0" lang="en-GB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868680" y="391356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UMAP reveals the structure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868680" y="425196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92a9"/>
                </a:solidFill>
                <a:latin typeface="Calibri"/>
                <a:ea typeface="Calibri"/>
              </a:rPr>
              <a:t>When embeddings form cleaner clusters for CD4 vs CD8, classification accuracy follows. Visualisation and performance go hand in hand.</a:t>
            </a:r>
            <a:endParaRPr b="0" lang="en-GB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2629440" y="327600"/>
            <a:ext cx="4246560" cy="424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457200" y="274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2744"/>
                </a:solidFill>
                <a:latin typeface="Calibri"/>
                <a:ea typeface="Calibri"/>
              </a:rPr>
              <a:t>Discussion prompts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365760" y="124128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365760" y="1222920"/>
            <a:ext cx="34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868680" y="1149840"/>
            <a:ext cx="7863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Why might the V gene alone (without CDR3) be predictive of CD4 vs CD8 lineage?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365760" y="201852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365760" y="2000160"/>
            <a:ext cx="34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868680" y="1927080"/>
            <a:ext cx="7863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ESM-2 embeds CDR3α and CDR3β separately and concatenates. What information is lost compared to SCEPTR's paired embedding?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365760" y="279576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365760" y="2777400"/>
            <a:ext cx="34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365760" y="357300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365760" y="3554640"/>
            <a:ext cx="34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868680" y="2617560"/>
            <a:ext cx="7863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If you had 10× more training data, would the ranking between representations change? Try this by increasing “N_PER_CLASS” in cell 2.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365760" y="4187880"/>
            <a:ext cx="34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868680" y="3394800"/>
            <a:ext cx="7863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744"/>
                </a:solidFill>
                <a:latin typeface="Calibri"/>
                <a:ea typeface="Calibri"/>
              </a:rPr>
              <a:t>What other labels beyond CD4/CD8 might be predictable from TCR sequence alone? What wouldn't be?</a:t>
            </a: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  <Words>832</Words>
  <Paragraphs>152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2026-05-31T16:04:27Z</dcterms:created>
  <dc:creator>PptxGenJS</dc:creator>
  <dc:description/>
  <dc:language>en-GB</dc:language>
  <cp:lastModifiedBy/>
  <dcterms:modified xsi:type="dcterms:W3CDTF">2026-06-03T12:14:08Z</dcterms:modified>
  <cp:revision>15</cp:revision>
  <dc:subject>PptxGenJS Presentation</dc:subject>
  <dc:title>TCR Language Model Workshop: CD4/CD8 Classification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